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IBM Plex Mono"/>
      <p:regular r:id="rId201314"/>
    </p:embeddedFont>
    <p:embeddedFont>
      <p:font typeface="IBM Plex Mono Medium"/>
      <p:regular r:id="rId201315"/>
    </p:embeddedFont>
    <p:embeddedFont>
      <p:font typeface="IBM Plex Mono SemiBold"/>
      <p:regular r:id="rId201316"/>
    </p:embeddedFont>
    <p:embeddedFont>
      <p:font typeface="IBM Plex Mono Bold"/>
      <p:regular r:id="rId201317"/>
    </p:embeddedFont>
    <p:embeddedFont>
      <p:font typeface="Public Sans"/>
      <p:regular r:id="rId201318"/>
    </p:embeddedFont>
    <p:embeddedFont>
      <p:font typeface="Public Sans SemiBold"/>
      <p:regular r:id="rId201319"/>
    </p:embeddedFont>
    <p:embeddedFont>
      <p:font typeface="Public Sans Bold"/>
      <p:regular r:id="rId201320"/>
    </p:embeddedFont>
    <p:embeddedFont>
      <p:font typeface="Sofia Sans Extra Condensed ExtraBold"/>
      <p:regular r:id="rId2013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ype="http://schemas.openxmlformats.org/officeDocument/2006/relationships/font" Target="fonts/201314.fntdata"/><Relationship Id="rId201315" Type="http://schemas.openxmlformats.org/officeDocument/2006/relationships/font" Target="fonts/201315.fntdata"/><Relationship Id="rId201316" Type="http://schemas.openxmlformats.org/officeDocument/2006/relationships/font" Target="fonts/201316.fntdata"/><Relationship Id="rId201317" Type="http://schemas.openxmlformats.org/officeDocument/2006/relationships/font" Target="fonts/201317.fntdata"/><Relationship Id="rId201318" Type="http://schemas.openxmlformats.org/officeDocument/2006/relationships/font" Target="fonts/201318.fntdata"/><Relationship Id="rId201319" Type="http://schemas.openxmlformats.org/officeDocument/2006/relationships/font" Target="fonts/201319.fntdata"/><Relationship Id="rId201320" Type="http://schemas.openxmlformats.org/officeDocument/2006/relationships/font" Target="fonts/201320.fntdata"/><Relationship Id="rId201321" Type="http://schemas.openxmlformats.org/officeDocument/2006/relationships/font" Target="fonts/201321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2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jpe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2286000"/>
            <a:ext cx="6603835" cy="3333651"/>
          </a:xfrm>
          <a:prstGeom prst="rect">
            <a:avLst/>
          </a:prstGeom>
          <a:solidFill>
            <a:srgbClr val="1F3A5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65176" y="2638425"/>
            <a:ext cx="1473163" cy="57150"/>
          </a:xfrm>
          <a:prstGeom prst="roundRect">
            <a:avLst>
              <a:gd name="adj" fmla="val 49999"/>
            </a:avLst>
          </a:prstGeom>
          <a:solidFill>
            <a:srgbClr val="F5F4EF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965176" y="3051874"/>
            <a:ext cx="5892653" cy="10483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2000"/>
              </a:lnSpc>
              <a:buNone/>
            </a:pPr>
            <a:r>
              <a:rPr lang="en-US" sz="4800" spc="-48" kern="100" dirty="0">
                <a:solidFill>
                  <a:srgbClr val="FFFFFF"/>
                </a:solidFill>
                <a:latin typeface="Sofia Sans Extra Condensed ExtraBold" pitchFamily="34" charset="0"/>
                <a:ea typeface="Sofia Sans Extra Condensed ExtraBold" pitchFamily="34" charset="-122"/>
                <a:cs typeface="Sofia Sans Extra Condensed ExtraBold" pitchFamily="34" charset="0"/>
              </a:rPr>
              <a:t>DATACO SUPPLY CHAIN</a:t>
            </a:r>
            <a:endParaRPr lang="en-US" sz="4800" dirty="0"/>
          </a:p>
          <a:p>
            <a:pPr algn="l" indent="0" marL="0">
              <a:lnSpc>
                <a:spcPct val="72000"/>
              </a:lnSpc>
              <a:buNone/>
            </a:pPr>
            <a:r>
              <a:rPr lang="en-US" sz="4800" spc="-48" kern="100" dirty="0">
                <a:solidFill>
                  <a:srgbClr val="FFFFFF"/>
                </a:solidFill>
                <a:latin typeface="Sofia Sans Extra Condensed ExtraBold" pitchFamily="34" charset="0"/>
                <a:ea typeface="Sofia Sans Extra Condensed ExtraBold" pitchFamily="34" charset="-122"/>
                <a:cs typeface="Sofia Sans Extra Condensed ExtraBold" pitchFamily="34" charset="0"/>
              </a:rPr>
              <a:t>AND SALES ANALYSIS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65176" y="4200485"/>
            <a:ext cx="6502237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Business Analyst portfolio project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5176" y="4648101"/>
            <a:ext cx="5892653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Md. Ahsan Ul Hoque</a:t>
            </a:r>
            <a:endParaRPr lang="en-US" sz="15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Python · PostgreSQL · Power BI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189" y="504825"/>
            <a:ext cx="1532693" cy="57150"/>
          </a:xfrm>
          <a:prstGeom prst="roundRect">
            <a:avLst>
              <a:gd name="adj" fmla="val 49999"/>
            </a:avLst>
          </a:prstGeom>
          <a:solidFill>
            <a:srgbClr val="00756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189" y="776923"/>
            <a:ext cx="6131367" cy="15924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400" dirty="0">
                <a:solidFill>
                  <a:srgbClr val="111618"/>
                </a:solidFill>
                <a:latin typeface="Sofia Sans Extra Condensed ExtraBold" pitchFamily="34" charset="0"/>
                <a:ea typeface="Sofia Sans Extra Condensed ExtraBold" pitchFamily="34" charset="-122"/>
                <a:cs typeface="Sofia Sans Extra Condensed ExtraBold" pitchFamily="34" charset="0"/>
              </a:rPr>
              <a:t>LATE DELIVERIES AND LOSS-MAKING ORDERS ARE THE CORE BUSINESS RISKS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189" y="2484636"/>
            <a:ext cx="613136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2A3134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The analysis starts with two measurable failures.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189" y="2842776"/>
            <a:ext cx="6131367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2A3134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Management needs a clear view of where time and profit are lost.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045645" y="457200"/>
            <a:ext cx="2306282" cy="3019822"/>
          </a:xfrm>
          <a:prstGeom prst="rect">
            <a:avLst/>
          </a:prstGeom>
          <a:solidFill>
            <a:srgbClr val="E8E7E0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274239" y="692785"/>
            <a:ext cx="1849094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66" kern="100" dirty="0">
                <a:solidFill>
                  <a:srgbClr val="2A3134"/>
                </a:solidFill>
                <a:latin typeface="IBM Plex Mono" pitchFamily="34" charset="0"/>
                <a:ea typeface="IBM Plex Mono" pitchFamily="34" charset="-122"/>
                <a:cs typeface="IBM Plex Mono" pitchFamily="34" charset="0"/>
              </a:rPr>
              <a:t>DELIVERED ITEMS ARRIVED LATE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274239" y="1245791"/>
            <a:ext cx="1849094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000" spc="-80" kern="100" dirty="0">
                <a:solidFill>
                  <a:srgbClr val="C0281C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0"/>
              </a:rPr>
              <a:t>57.3%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7274239" y="1843643"/>
            <a:ext cx="2077688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00" spc="52" kern="100" dirty="0">
                <a:solidFill>
                  <a:srgbClr val="C0281C"/>
                </a:solidFill>
                <a:latin typeface="IBM Plex Mono" pitchFamily="34" charset="0"/>
                <a:ea typeface="IBM Plex Mono" pitchFamily="34" charset="-122"/>
                <a:cs typeface="IBM Plex Mono" pitchFamily="34" charset="0"/>
              </a:rPr>
              <a:t>▲ CORE TIME RISK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428125" y="457200"/>
            <a:ext cx="2306381" cy="3019822"/>
          </a:xfrm>
          <a:prstGeom prst="rect">
            <a:avLst/>
          </a:prstGeom>
          <a:solidFill>
            <a:srgbClr val="E8E7E0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656719" y="692785"/>
            <a:ext cx="1849193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66" kern="100" dirty="0">
                <a:solidFill>
                  <a:srgbClr val="2A3134"/>
                </a:solidFill>
                <a:latin typeface="IBM Plex Mono" pitchFamily="34" charset="0"/>
                <a:ea typeface="IBM Plex Mono" pitchFamily="34" charset="-122"/>
                <a:cs typeface="IBM Plex Mono" pitchFamily="34" charset="0"/>
              </a:rPr>
              <a:t>ORDER ITEMS LOSS-MAKING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56719" y="1245791"/>
            <a:ext cx="1849193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000" spc="-80" kern="100" dirty="0">
                <a:solidFill>
                  <a:srgbClr val="C0281C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0"/>
              </a:rPr>
              <a:t>18.71%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9656719" y="1843643"/>
            <a:ext cx="1849193" cy="462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00" spc="52" kern="100" dirty="0">
                <a:solidFill>
                  <a:srgbClr val="C0281C"/>
                </a:solidFill>
                <a:latin typeface="IBM Plex Mono" pitchFamily="34" charset="0"/>
                <a:ea typeface="IBM Plex Mono" pitchFamily="34" charset="-122"/>
                <a:cs typeface="IBM Plex Mono" pitchFamily="34" charset="0"/>
              </a:rPr>
              <a:t>▲ CORE PROFIT RISK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5931"/>
            <a:ext cx="3845523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66" kern="100" dirty="0">
                <a:solidFill>
                  <a:srgbClr val="566064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0"/>
              </a:rPr>
              <a:t>ANALYSIS SCOPE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189" y="757873"/>
            <a:ext cx="3388335" cy="82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5000"/>
              </a:lnSpc>
              <a:buNone/>
            </a:pPr>
            <a:r>
              <a:rPr lang="en-US" sz="7200" spc="-72" kern="100" dirty="0">
                <a:solidFill>
                  <a:srgbClr val="111618"/>
                </a:solidFill>
                <a:latin typeface="Sofia Sans Extra Condensed ExtraBold" pitchFamily="34" charset="0"/>
                <a:ea typeface="Sofia Sans Extra Condensed ExtraBold" pitchFamily="34" charset="-122"/>
                <a:cs typeface="Sofia Sans Extra Condensed ExtraBold" pitchFamily="34" charset="0"/>
              </a:rPr>
              <a:t>180,519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189" y="1664295"/>
            <a:ext cx="3845523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2A3134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order items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189" y="2064345"/>
            <a:ext cx="338833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2A3134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About 66K distinct orders, January 2015–January 2018.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216990" y="491173"/>
            <a:ext cx="6517517" cy="1061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400" dirty="0">
                <a:solidFill>
                  <a:srgbClr val="111618"/>
                </a:solidFill>
                <a:latin typeface="Sofia Sans Extra Condensed ExtraBold" pitchFamily="34" charset="0"/>
                <a:ea typeface="Sofia Sans Extra Condensed ExtraBold" pitchFamily="34" charset="-122"/>
                <a:cs typeface="Sofia Sans Extra Condensed ExtraBold" pitchFamily="34" charset="0"/>
              </a:rPr>
              <a:t>180,519 ORDER ITEMS BECAME A THREE-STEP ANALYSIS WORKFLOW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216990" y="1668066"/>
            <a:ext cx="80930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00756A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0"/>
              </a:rPr>
              <a:t>01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216990" y="1934766"/>
            <a:ext cx="2070842" cy="19050"/>
          </a:xfrm>
          <a:prstGeom prst="rect">
            <a:avLst/>
          </a:prstGeom>
          <a:solidFill>
            <a:srgbClr val="00756A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216990" y="2070973"/>
            <a:ext cx="2070842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111618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Python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216990" y="2450306"/>
            <a:ext cx="2070842" cy="462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00" dirty="0">
                <a:solidFill>
                  <a:srgbClr val="2A3134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Clean, explore, and engineer analysis fields.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440228" y="1668066"/>
            <a:ext cx="84720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00756A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0"/>
              </a:rPr>
              <a:t>02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440228" y="1934766"/>
            <a:ext cx="2070842" cy="19050"/>
          </a:xfrm>
          <a:prstGeom prst="rect">
            <a:avLst/>
          </a:prstGeom>
          <a:solidFill>
            <a:srgbClr val="00756A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440228" y="2070973"/>
            <a:ext cx="2070941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111618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PostgreSQL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440228" y="2450306"/>
            <a:ext cx="2070941" cy="693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00" dirty="0">
                <a:solidFill>
                  <a:srgbClr val="2A3134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Structure and query sales, delivery, product, and market performance.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63565" y="1668066"/>
            <a:ext cx="85236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00756A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0"/>
              </a:rPr>
              <a:t>03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663565" y="1934766"/>
            <a:ext cx="2070842" cy="19050"/>
          </a:xfrm>
          <a:prstGeom prst="rect">
            <a:avLst/>
          </a:prstGeom>
          <a:solidFill>
            <a:srgbClr val="00756A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663565" y="2070973"/>
            <a:ext cx="2070842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111618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Power BI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63565" y="2450306"/>
            <a:ext cx="2070842" cy="462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00" dirty="0">
                <a:solidFill>
                  <a:srgbClr val="2A3134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Turn findings into interactive dashboards.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216990" y="6134100"/>
            <a:ext cx="697470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2A3134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Outcome: recommendations focused on delay and loss risk.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91173"/>
            <a:ext cx="6126406" cy="1061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400" dirty="0">
                <a:solidFill>
                  <a:srgbClr val="111618"/>
                </a:solidFill>
                <a:latin typeface="Sofia Sans Extra Condensed ExtraBold" pitchFamily="34" charset="0"/>
                <a:ea typeface="Sofia Sans Extra Condensed ExtraBold" pitchFamily="34" charset="-122"/>
                <a:cs typeface="Sofia Sans Extra Condensed ExtraBold" pitchFamily="34" charset="0"/>
              </a:rPr>
              <a:t>CLEANING REMOVED NOISE; EDA RULED OUT SIMPLE EXPLANATIONS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189" y="1670923"/>
            <a:ext cx="6126406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00756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9 columns removed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189" y="2050256"/>
            <a:ext cx="6126406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00" dirty="0">
                <a:solidFill>
                  <a:srgbClr val="2A3134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Missing, empty, private, or unused fields.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189" y="3053140"/>
            <a:ext cx="6126406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111618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Analysis fields engineered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189" y="3432473"/>
            <a:ext cx="6126406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00" dirty="0">
                <a:solidFill>
                  <a:srgbClr val="2A3134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delay_days · is_late · is_loss · profit_margin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189" y="4435356"/>
            <a:ext cx="6126406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111618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Discount rate showed no clear effect on profit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189" y="5478542"/>
            <a:ext cx="6126406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111618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Correlations were weak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189" y="5857875"/>
            <a:ext cx="6126406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00" dirty="0">
                <a:solidFill>
                  <a:srgbClr val="2A3134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Sales–profit 0.13 · discount–profit −0.02 · delay–profit about 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955061" y="2559844"/>
            <a:ext cx="4236634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66" kern="100" dirty="0">
                <a:solidFill>
                  <a:srgbClr val="566064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0"/>
              </a:rPr>
              <a:t>NEXT ANALYTICAL LAYER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955061" y="2851785"/>
            <a:ext cx="3779445" cy="82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5000"/>
              </a:lnSpc>
              <a:buNone/>
            </a:pPr>
            <a:r>
              <a:rPr lang="en-US" sz="7200" spc="-72" kern="100" dirty="0">
                <a:solidFill>
                  <a:srgbClr val="111618"/>
                </a:solidFill>
                <a:latin typeface="Sofia Sans Extra Condensed ExtraBold" pitchFamily="34" charset="0"/>
                <a:ea typeface="Sofia Sans Extra Condensed ExtraBold" pitchFamily="34" charset="-122"/>
                <a:cs typeface="Sofia Sans Extra Condensed ExtraBold" pitchFamily="34" charset="0"/>
              </a:rPr>
              <a:t>GO DEEPER</a:t>
            </a:r>
            <a:endParaRPr lang="en-US" sz="7200" dirty="0"/>
          </a:p>
        </p:txBody>
      </p:sp>
      <p:sp>
        <p:nvSpPr>
          <p:cNvPr id="12" name="Text 10"/>
          <p:cNvSpPr/>
          <p:nvPr/>
        </p:nvSpPr>
        <p:spPr>
          <a:xfrm>
            <a:off x="7955061" y="3773488"/>
            <a:ext cx="377944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2A3134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Product, category, market, and shipping mode needed deeper analysis.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189" y="2815332"/>
            <a:ext cx="6126406" cy="12700"/>
          </a:xfrm>
          <a:prstGeom prst="rect">
            <a:avLst/>
          </a:prstGeom>
          <a:solidFill>
            <a:srgbClr val="CFCEC5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57189" y="4197548"/>
            <a:ext cx="6126406" cy="12700"/>
          </a:xfrm>
          <a:prstGeom prst="rect">
            <a:avLst/>
          </a:prstGeom>
          <a:solidFill>
            <a:srgbClr val="CFCEC5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57189" y="5240734"/>
            <a:ext cx="6126406" cy="12700"/>
          </a:xfrm>
          <a:prstGeom prst="rect">
            <a:avLst/>
          </a:prstGeom>
          <a:solidFill>
            <a:srgbClr val="CFCEC5"/>
          </a:solidFill>
          <a:ln/>
        </p:spPr>
        <p:txBody>
          <a:bodyPr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91173"/>
            <a:ext cx="6517517" cy="1061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400" dirty="0">
                <a:solidFill>
                  <a:srgbClr val="111618"/>
                </a:solidFill>
                <a:latin typeface="Sofia Sans Extra Condensed ExtraBold" pitchFamily="34" charset="0"/>
                <a:ea typeface="Sofia Sans Extra Condensed ExtraBold" pitchFamily="34" charset="-122"/>
                <a:cs typeface="Sofia Sans Extra Condensed ExtraBold" pitchFamily="34" charset="0"/>
              </a:rPr>
              <a:t>$36.78M IN SALES PRODUCED A $3.97M PROFIT POOL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189" y="1668066"/>
            <a:ext cx="2121641" cy="1153120"/>
          </a:xfrm>
          <a:prstGeom prst="rect">
            <a:avLst/>
          </a:prstGeom>
          <a:solidFill>
            <a:srgbClr val="E8E7E0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85783" y="1903651"/>
            <a:ext cx="1893046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66" kern="100" dirty="0">
                <a:solidFill>
                  <a:srgbClr val="2A3134"/>
                </a:solidFill>
                <a:latin typeface="IBM Plex Mono" pitchFamily="34" charset="0"/>
                <a:ea typeface="IBM Plex Mono" pitchFamily="34" charset="-122"/>
                <a:cs typeface="IBM Plex Mono" pitchFamily="34" charset="0"/>
              </a:rPr>
              <a:t>SALES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783" y="2259211"/>
            <a:ext cx="1664452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000" spc="-60" kern="100" dirty="0">
                <a:solidFill>
                  <a:srgbClr val="2A3134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0"/>
              </a:rPr>
              <a:t>$36.78M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655027" y="1668066"/>
            <a:ext cx="2121740" cy="1153120"/>
          </a:xfrm>
          <a:prstGeom prst="rect">
            <a:avLst/>
          </a:prstGeom>
          <a:solidFill>
            <a:srgbClr val="E8E7E0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883622" y="1903651"/>
            <a:ext cx="1893146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66" kern="100" dirty="0">
                <a:solidFill>
                  <a:srgbClr val="2A3134"/>
                </a:solidFill>
                <a:latin typeface="IBM Plex Mono" pitchFamily="34" charset="0"/>
                <a:ea typeface="IBM Plex Mono" pitchFamily="34" charset="-122"/>
                <a:cs typeface="IBM Plex Mono" pitchFamily="34" charset="0"/>
              </a:rPr>
              <a:t>PROFIT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883622" y="2259211"/>
            <a:ext cx="166455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000" spc="-60" kern="100" dirty="0">
                <a:solidFill>
                  <a:srgbClr val="2A3134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0"/>
              </a:rPr>
              <a:t>$3.97M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852965" y="1668066"/>
            <a:ext cx="2121641" cy="1153120"/>
          </a:xfrm>
          <a:prstGeom prst="rect">
            <a:avLst/>
          </a:prstGeom>
          <a:solidFill>
            <a:srgbClr val="E8E7E0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081560" y="1903651"/>
            <a:ext cx="1893046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66" kern="100" dirty="0">
                <a:solidFill>
                  <a:srgbClr val="2A3134"/>
                </a:solidFill>
                <a:latin typeface="IBM Plex Mono" pitchFamily="34" charset="0"/>
                <a:ea typeface="IBM Plex Mono" pitchFamily="34" charset="-122"/>
                <a:cs typeface="IBM Plex Mono" pitchFamily="34" charset="0"/>
              </a:rPr>
              <a:t>MARGIN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81560" y="2259211"/>
            <a:ext cx="1664452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000" spc="-60" kern="100" dirty="0">
                <a:solidFill>
                  <a:srgbClr val="2A3134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0"/>
              </a:rPr>
              <a:t>10.78%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57189" y="2957393"/>
            <a:ext cx="6517517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111618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Europe + LATAM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189" y="3336727"/>
            <a:ext cx="6517517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00" dirty="0">
                <a:solidFill>
                  <a:srgbClr val="2A3134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About 57% of sales.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189" y="4028757"/>
            <a:ext cx="6517517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111618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Consumer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189" y="4408091"/>
            <a:ext cx="6517517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00" dirty="0">
                <a:solidFill>
                  <a:srgbClr val="2A3134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$19.10M sales and $2.07M profit; largest segment.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189" y="5100122"/>
            <a:ext cx="6517517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111618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Top profit categories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189" y="5479455"/>
            <a:ext cx="6517517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00" dirty="0">
                <a:solidFill>
                  <a:srgbClr val="2A3134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Fishing $756,221 · Cleats $494,637.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189" y="6168727"/>
            <a:ext cx="6517517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00" dirty="0">
                <a:solidFill>
                  <a:srgbClr val="2A3134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Monthly sales were broadly steady before the late-2017 drop.</a:t>
            </a:r>
            <a:endParaRPr lang="en-US" sz="13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8983" y="0"/>
            <a:ext cx="4302712" cy="685800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457189" y="3790950"/>
            <a:ext cx="6517517" cy="12700"/>
          </a:xfrm>
          <a:prstGeom prst="rect">
            <a:avLst/>
          </a:prstGeom>
          <a:solidFill>
            <a:srgbClr val="CFCEC5"/>
          </a:solidFill>
          <a:ln/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457189" y="4862314"/>
            <a:ext cx="6517517" cy="12700"/>
          </a:xfrm>
          <a:prstGeom prst="rect">
            <a:avLst/>
          </a:prstGeom>
          <a:solidFill>
            <a:srgbClr val="CFCEC5"/>
          </a:solidFill>
          <a:ln/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457189" y="5933777"/>
            <a:ext cx="6517517" cy="12700"/>
          </a:xfrm>
          <a:prstGeom prst="rect">
            <a:avLst/>
          </a:prstGeom>
          <a:solidFill>
            <a:srgbClr val="CFCEC5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181566" y="6540500"/>
            <a:ext cx="768728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2A3134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719773"/>
            <a:ext cx="7213420" cy="1061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400" dirty="0">
                <a:solidFill>
                  <a:srgbClr val="111618"/>
                </a:solidFill>
                <a:latin typeface="Sofia Sans Extra Condensed ExtraBold" pitchFamily="34" charset="0"/>
                <a:ea typeface="Sofia Sans Extra Condensed ExtraBold" pitchFamily="34" charset="-122"/>
                <a:cs typeface="Sofia Sans Extra Condensed ExtraBold" pitchFamily="34" charset="0"/>
              </a:rPr>
              <a:t>PREMIUM SHIPPING MODES UNDERPERFORM THEIR PROMISE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189" y="1903651"/>
            <a:ext cx="721342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66" kern="100" dirty="0">
                <a:solidFill>
                  <a:srgbClr val="566064"/>
                </a:solidFill>
                <a:latin typeface="IBM Plex Mono" pitchFamily="34" charset="0"/>
                <a:ea typeface="IBM Plex Mono" pitchFamily="34" charset="-122"/>
                <a:cs typeface="IBM Plex Mono" pitchFamily="34" charset="0"/>
              </a:rPr>
              <a:t>LATE-DELIVERY RATE BY SHIPPING MODE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189" y="2163961"/>
            <a:ext cx="7111822" cy="3493988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6391" y="685800"/>
            <a:ext cx="3149521" cy="433278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356391" y="5085894"/>
            <a:ext cx="3149521" cy="579041"/>
          </a:xfrm>
          <a:prstGeom prst="rect">
            <a:avLst/>
          </a:prstGeom>
          <a:noFill/>
          <a:ln/>
        </p:spPr>
        <p:txBody>
          <a:bodyPr wrap="square" lIns="0" tIns="215895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88" kern="100" dirty="0">
                <a:solidFill>
                  <a:srgbClr val="566064"/>
                </a:solidFill>
                <a:latin typeface="IBM Plex Mono" pitchFamily="34" charset="0"/>
                <a:ea typeface="IBM Plex Mono" pitchFamily="34" charset="-122"/>
                <a:cs typeface="IBM Plex Mono" pitchFamily="34" charset="0"/>
              </a:rPr>
              <a:t>DELIVERY PERFORMANCE · 172,765 DELIVERED ITEMS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457189" y="6019899"/>
            <a:ext cx="1173450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2A3134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Overall: 57.3% late across 172,765 delivered items. Standard Class carried about 60% of volume.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91173"/>
            <a:ext cx="6908627" cy="1061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400" dirty="0">
                <a:solidFill>
                  <a:srgbClr val="111618"/>
                </a:solidFill>
                <a:latin typeface="Sofia Sans Extra Condensed ExtraBold" pitchFamily="34" charset="0"/>
                <a:ea typeface="Sofia Sans Extra Condensed ExtraBold" pitchFamily="34" charset="-122"/>
                <a:cs typeface="Sofia Sans Extra Condensed ExtraBold" pitchFamily="34" charset="0"/>
              </a:rPr>
              <a:t>LOSS RISK IS BROAD BY RATE, CONCENTRATED BY VALUE</a:t>
            </a:r>
            <a:endParaRPr lang="en-US" sz="4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189" y="1668066"/>
          <a:ext cx="6908627" cy="914400"/>
        </p:xfrm>
        <a:graphic>
          <a:graphicData uri="http://schemas.openxmlformats.org/drawingml/2006/table">
            <a:tbl>
              <a:tblPr/>
              <a:tblGrid>
                <a:gridCol w="3316105"/>
                <a:gridCol w="1796211"/>
                <a:gridCol w="1796311"/>
              </a:tblGrid>
              <a:tr h="37970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spc="66" kern="100" dirty="0">
                          <a:solidFill>
                            <a:srgbClr val="111618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0"/>
                        </a:rPr>
                        <a:t>VIEW</a:t>
                      </a:r>
                      <a:endParaRPr lang="en-US" sz="11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F5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spc="66" kern="100" dirty="0">
                          <a:solidFill>
                            <a:srgbClr val="111618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0"/>
                        </a:rPr>
                        <a:t>LOSS RATE</a:t>
                      </a:r>
                      <a:endParaRPr lang="en-US" sz="11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F5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spc="66" kern="100" dirty="0">
                          <a:solidFill>
                            <a:srgbClr val="111618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0"/>
                        </a:rPr>
                        <a:t>VALUE SIGNAL</a:t>
                      </a:r>
                      <a:endParaRPr lang="en-US" sz="11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F5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75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3134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0"/>
                        </a:rPr>
                        <a:t>Markets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F5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3134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0"/>
                        </a:rPr>
                        <a:t>Near 19% across every market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F5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3134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0"/>
                        </a:rPr>
                        <a:t>Broad exposure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F5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75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3134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0"/>
                        </a:rPr>
                        <a:t>Categories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F5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3134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0"/>
                        </a:rPr>
                        <a:t>Near 19% across categories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F5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3134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0"/>
                        </a:rPr>
                        <a:t>Broad exposure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F5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4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3134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0"/>
                        </a:rPr>
                        <a:t>Top loss categories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F5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C0281C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0"/>
                        </a:rPr>
                        <a:t>—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F5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C0281C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0"/>
                        </a:rPr>
                        <a:t>$1.62M lost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F5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189" y="5766554"/>
            <a:ext cx="6908627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2A3134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Fishing + Cleats + Camping &amp; Hiking carry the largest value loss. Discount cuts alone are unlikely to solve the problem.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7381" y="457200"/>
            <a:ext cx="2997125" cy="535185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737381" y="5943044"/>
            <a:ext cx="2997125" cy="464741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88" kern="100" dirty="0">
                <a:solidFill>
                  <a:srgbClr val="566064"/>
                </a:solidFill>
                <a:latin typeface="IBM Plex Mono" pitchFamily="34" charset="0"/>
                <a:ea typeface="IBM Plex Mono" pitchFamily="34" charset="-122"/>
                <a:cs typeface="IBM Plex Mono" pitchFamily="34" charset="0"/>
              </a:rPr>
              <a:t>PROFIT AND LOSS RISK · CATEGORY VIEW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91173"/>
            <a:ext cx="6517517" cy="1061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400" dirty="0">
                <a:solidFill>
                  <a:srgbClr val="111618"/>
                </a:solidFill>
                <a:latin typeface="Sofia Sans Extra Condensed ExtraBold" pitchFamily="34" charset="0"/>
                <a:ea typeface="Sofia Sans Extra Condensed ExtraBold" pitchFamily="34" charset="-122"/>
                <a:cs typeface="Sofia Sans Extra Condensed ExtraBold" pitchFamily="34" charset="0"/>
              </a:rPr>
              <a:t>THE DASHBOARD TURNS ANALYSIS INTO A DECISION WORKFLOW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189" y="1668066"/>
            <a:ext cx="697470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2A3134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Four pages connect the business question to the next action.</a:t>
            </a:r>
            <a:endParaRPr lang="en-US" sz="1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189" y="2068116"/>
            <a:ext cx="476238" cy="4762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189" y="2680573"/>
            <a:ext cx="3106362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111618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Sales Overview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189" y="3059906"/>
            <a:ext cx="3106362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00" dirty="0">
                <a:solidFill>
                  <a:srgbClr val="2A3134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See the commercial baseline.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8343" y="2068116"/>
            <a:ext cx="476238" cy="4762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868343" y="2680573"/>
            <a:ext cx="3106362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111618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Delivery Performance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3868343" y="3059906"/>
            <a:ext cx="3106362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00" dirty="0">
                <a:solidFill>
                  <a:srgbClr val="2A3134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Find where time is lost.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89" y="3595787"/>
            <a:ext cx="476238" cy="4762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57189" y="4208244"/>
            <a:ext cx="3106362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111618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Profit and Loss Risk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457189" y="4587577"/>
            <a:ext cx="3106362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00" dirty="0">
                <a:solidFill>
                  <a:srgbClr val="2A3134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Locate value at risk.</a:t>
            </a:r>
            <a:endParaRPr lang="en-US" sz="13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8343" y="3595787"/>
            <a:ext cx="476238" cy="4762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868343" y="4208244"/>
            <a:ext cx="3106362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111618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Root Cause Analysis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3868343" y="4587577"/>
            <a:ext cx="3106362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00" dirty="0">
                <a:solidFill>
                  <a:srgbClr val="2A3134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Move from signal to action.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457189" y="4952008"/>
            <a:ext cx="6517517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2A3134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4 pages:</a:t>
            </a:r>
            <a:pPr algn="l" indent="0" marL="0">
              <a:lnSpc>
                <a:spcPct val="117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2A3134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 Sales Overview, Delivery Performance, Profit and Loss Risk, Root Cause Analysis</a:t>
            </a:r>
            <a:endParaRPr lang="en-US" sz="15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500" b="1" dirty="0">
                <a:solidFill>
                  <a:srgbClr val="2A3134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Interactive filters:</a:t>
            </a:r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2A3134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 market, segment, year, category, and shipping mode. </a:t>
            </a:r>
            <a:pPr algn="l" indent="0" marL="0">
              <a:lnSpc>
                <a:spcPct val="117000"/>
              </a:lnSpc>
              <a:buNone/>
            </a:pPr>
            <a:r>
              <a:rPr lang="en-US" sz="1500" b="1" dirty="0">
                <a:solidFill>
                  <a:srgbClr val="2A3134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Large KPI cards</a:t>
            </a:r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2A3134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 keep the business story visible.</a:t>
            </a:r>
            <a:endParaRPr lang="en-US" sz="15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6172" y="457200"/>
            <a:ext cx="3388335" cy="5326459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346172" y="5943044"/>
            <a:ext cx="3388335" cy="464741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88" kern="100" dirty="0">
                <a:solidFill>
                  <a:srgbClr val="566064"/>
                </a:solidFill>
                <a:latin typeface="IBM Plex Mono" pitchFamily="34" charset="0"/>
                <a:ea typeface="IBM Plex Mono" pitchFamily="34" charset="-122"/>
                <a:cs typeface="IBM Plex Mono" pitchFamily="34" charset="0"/>
              </a:rPr>
              <a:t>DRILL-THROUGH · TOOLTIPS · FIELD PARAMETER · AI VISUALS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91173"/>
            <a:ext cx="7299837" cy="1061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400" dirty="0">
                <a:solidFill>
                  <a:srgbClr val="111618"/>
                </a:solidFill>
                <a:latin typeface="Sofia Sans Extra Condensed ExtraBold" pitchFamily="34" charset="0"/>
                <a:ea typeface="Sofia Sans Extra Condensed ExtraBold" pitchFamily="34" charset="-122"/>
                <a:cs typeface="Sofia Sans Extra Condensed ExtraBold" pitchFamily="34" charset="0"/>
              </a:rPr>
              <a:t>SIX ACTIONS TARGET THE BIGGEST OPERATIONAL AND PROFIT RISKS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189" y="1688306"/>
            <a:ext cx="72388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00756A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61981" y="1668066"/>
            <a:ext cx="6995045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00" b="1" dirty="0">
                <a:solidFill>
                  <a:srgbClr val="2A3134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Fix First Class and Second Class delivery;</a:t>
            </a:r>
            <a:pPr algn="l" indent="0" marL="0">
              <a:lnSpc>
                <a:spcPct val="117000"/>
              </a:lnSpc>
              <a:buNone/>
            </a:pPr>
            <a:r>
              <a:rPr lang="en-US" sz="1300" dirty="0">
                <a:solidFill>
                  <a:srgbClr val="2A3134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 validate the First Class data quirk.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189" y="2553295"/>
            <a:ext cx="72388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00756A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0"/>
              </a:rPr>
              <a:t>2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61981" y="2533055"/>
            <a:ext cx="6995045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00" b="1" dirty="0">
                <a:solidFill>
                  <a:srgbClr val="2A3134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Treat late delivery as network-wide;</a:t>
            </a:r>
            <a:pPr algn="l" indent="0" marL="0">
              <a:lnSpc>
                <a:spcPct val="117000"/>
              </a:lnSpc>
              <a:buNone/>
            </a:pPr>
            <a:r>
              <a:rPr lang="en-US" sz="1300" dirty="0">
                <a:solidFill>
                  <a:srgbClr val="2A3134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 start with Europe and LATAM.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189" y="3418284"/>
            <a:ext cx="72388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00756A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0"/>
              </a:rPr>
              <a:t>3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61981" y="3398044"/>
            <a:ext cx="6995045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00" b="1" dirty="0">
                <a:solidFill>
                  <a:srgbClr val="2A3134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Review the top loss categories:</a:t>
            </a:r>
            <a:pPr algn="l" indent="0" marL="0">
              <a:lnSpc>
                <a:spcPct val="117000"/>
              </a:lnSpc>
              <a:buNone/>
            </a:pPr>
            <a:r>
              <a:rPr lang="en-US" sz="1300" dirty="0">
                <a:solidFill>
                  <a:srgbClr val="2A3134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 pricing, product cost, and shipping cost.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189" y="4283273"/>
            <a:ext cx="72388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00756A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0"/>
              </a:rPr>
              <a:t>4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61981" y="4263033"/>
            <a:ext cx="6995045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00" b="1" dirty="0">
                <a:solidFill>
                  <a:srgbClr val="2A3134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Do not rely on discount cuts;</a:t>
            </a:r>
            <a:pPr algn="l" indent="0" marL="0">
              <a:lnSpc>
                <a:spcPct val="117000"/>
              </a:lnSpc>
              <a:buNone/>
            </a:pPr>
            <a:r>
              <a:rPr lang="en-US" sz="1300" dirty="0">
                <a:solidFill>
                  <a:srgbClr val="2A3134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 investigate product cost, pricing, and shipping.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189" y="5148263"/>
            <a:ext cx="72388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00756A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0"/>
              </a:rPr>
              <a:t>5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61981" y="5128022"/>
            <a:ext cx="6995045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00" b="1" dirty="0">
                <a:solidFill>
                  <a:srgbClr val="2A3134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Pilot a February campaign.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189" y="6013252"/>
            <a:ext cx="72388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00756A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0"/>
              </a:rPr>
              <a:t>6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61981" y="5993011"/>
            <a:ext cx="6995045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00" b="1" dirty="0">
                <a:solidFill>
                  <a:srgbClr val="2A3134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Verify the sharp sales drop after September 2017.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671303" y="0"/>
            <a:ext cx="3520392" cy="6858000"/>
          </a:xfrm>
          <a:prstGeom prst="rect">
            <a:avLst/>
          </a:prstGeom>
          <a:solidFill>
            <a:srgbClr val="1F3A5F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128492" y="1192113"/>
            <a:ext cx="3063203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66" kern="100" dirty="0">
                <a:solidFill>
                  <a:srgbClr val="FFFFFF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0"/>
              </a:rPr>
              <a:t>DECISION LENS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28492" y="1484055"/>
            <a:ext cx="2606014" cy="329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5000"/>
              </a:lnSpc>
              <a:buNone/>
            </a:pPr>
            <a:r>
              <a:rPr lang="en-US" sz="7200" spc="-72" kern="100" dirty="0">
                <a:solidFill>
                  <a:srgbClr val="FFFFFF"/>
                </a:solidFill>
                <a:latin typeface="Sofia Sans Extra Condensed ExtraBold" pitchFamily="34" charset="0"/>
                <a:ea typeface="Sofia Sans Extra Condensed ExtraBold" pitchFamily="34" charset="-122"/>
                <a:cs typeface="Sofia Sans Extra Condensed ExtraBold" pitchFamily="34" charset="0"/>
              </a:rPr>
              <a:t>PROTECT TIME.</a:t>
            </a:r>
            <a:endParaRPr lang="en-US" sz="7200" dirty="0"/>
          </a:p>
          <a:p>
            <a:pPr algn="l" indent="0" marL="0">
              <a:lnSpc>
                <a:spcPct val="75000"/>
              </a:lnSpc>
              <a:buNone/>
            </a:pPr>
            <a:r>
              <a:rPr lang="en-US" sz="7200" spc="-72" kern="100" dirty="0">
                <a:solidFill>
                  <a:srgbClr val="FFFFFF"/>
                </a:solidFill>
                <a:latin typeface="Sofia Sans Extra Condensed ExtraBold" pitchFamily="34" charset="0"/>
                <a:ea typeface="Sofia Sans Extra Condensed ExtraBold" pitchFamily="34" charset="-122"/>
                <a:cs typeface="Sofia Sans Extra Condensed ExtraBold" pitchFamily="34" charset="0"/>
              </a:rPr>
              <a:t>PROTECT MARGIN.</a:t>
            </a:r>
            <a:endParaRPr lang="en-US" sz="7200" dirty="0"/>
          </a:p>
        </p:txBody>
      </p:sp>
      <p:sp>
        <p:nvSpPr>
          <p:cNvPr id="18" name="Text 16"/>
          <p:cNvSpPr/>
          <p:nvPr/>
        </p:nvSpPr>
        <p:spPr>
          <a:xfrm>
            <a:off x="9128492" y="4874518"/>
            <a:ext cx="2606014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Prioritize actions that address both operational and profit risk.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189" y="2298105"/>
            <a:ext cx="7299837" cy="12700"/>
          </a:xfrm>
          <a:prstGeom prst="rect">
            <a:avLst/>
          </a:prstGeom>
          <a:solidFill>
            <a:srgbClr val="CFCEC5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57189" y="3163094"/>
            <a:ext cx="7299837" cy="12700"/>
          </a:xfrm>
          <a:prstGeom prst="rect">
            <a:avLst/>
          </a:prstGeom>
          <a:solidFill>
            <a:srgbClr val="CFCEC5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57189" y="4028083"/>
            <a:ext cx="7299837" cy="12700"/>
          </a:xfrm>
          <a:prstGeom prst="rect">
            <a:avLst/>
          </a:prstGeom>
          <a:solidFill>
            <a:srgbClr val="CFCEC5"/>
          </a:solidFill>
          <a:ln/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57189" y="4893072"/>
            <a:ext cx="7299837" cy="12700"/>
          </a:xfrm>
          <a:prstGeom prst="rect">
            <a:avLst/>
          </a:prstGeom>
          <a:solidFill>
            <a:srgbClr val="CFCEC5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457189" y="5758061"/>
            <a:ext cx="7299837" cy="12700"/>
          </a:xfrm>
          <a:prstGeom prst="rect">
            <a:avLst/>
          </a:prstGeom>
          <a:solidFill>
            <a:srgbClr val="CFCEC5"/>
          </a:solidFill>
          <a:ln/>
        </p:spPr>
        <p:txBody>
          <a:bodyPr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189" y="504825"/>
            <a:ext cx="1629230" cy="57150"/>
          </a:xfrm>
          <a:prstGeom prst="roundRect">
            <a:avLst>
              <a:gd name="adj" fmla="val 49999"/>
            </a:avLst>
          </a:prstGeom>
          <a:solidFill>
            <a:srgbClr val="00756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189" y="897573"/>
            <a:ext cx="6517517" cy="1061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400" dirty="0">
                <a:solidFill>
                  <a:srgbClr val="111618"/>
                </a:solidFill>
                <a:latin typeface="Sofia Sans Extra Condensed ExtraBold" pitchFamily="34" charset="0"/>
                <a:ea typeface="Sofia Sans Extra Condensed ExtraBold" pitchFamily="34" charset="-122"/>
                <a:cs typeface="Sofia Sans Extra Condensed ExtraBold" pitchFamily="34" charset="0"/>
              </a:rPr>
              <a:t>USE THE FINDINGS WITH TWO IMPORTANT DATA CAVEATS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189" y="2077323"/>
            <a:ext cx="6517517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111618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First Class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189" y="2456656"/>
            <a:ext cx="6517517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00" dirty="0">
                <a:solidFill>
                  <a:srgbClr val="2A3134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100% late may reflect a scheduled-time data quirk.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189" y="3273207"/>
            <a:ext cx="6517517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111618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2018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189" y="3652540"/>
            <a:ext cx="6517517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00" dirty="0">
                <a:solidFill>
                  <a:srgbClr val="2A3134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January is a partial year and should not be compared with full years.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189" y="4469090"/>
            <a:ext cx="6517517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111618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Late 2017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189" y="4848423"/>
            <a:ext cx="6517517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00" dirty="0">
                <a:solidFill>
                  <a:srgbClr val="2A3134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The sharp sales drop may reflect incomplete data.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189" y="5664974"/>
            <a:ext cx="6517517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111618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Next step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189" y="6044307"/>
            <a:ext cx="6517517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00" dirty="0">
                <a:solidFill>
                  <a:srgbClr val="2A3134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Validate last order dates, order counts, and delivery-time definitions.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888983" y="0"/>
            <a:ext cx="4302712" cy="6858000"/>
          </a:xfrm>
          <a:prstGeom prst="rect">
            <a:avLst/>
          </a:prstGeom>
          <a:solidFill>
            <a:srgbClr val="E8E7E0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46172" y="522922"/>
            <a:ext cx="3388335" cy="82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5000"/>
              </a:lnSpc>
              <a:buNone/>
            </a:pPr>
            <a:r>
              <a:rPr lang="en-US" sz="7200" spc="-72" kern="100" dirty="0">
                <a:solidFill>
                  <a:srgbClr val="2A3134"/>
                </a:solidFill>
                <a:latin typeface="Sofia Sans Extra Condensed ExtraBold" pitchFamily="34" charset="0"/>
                <a:ea typeface="Sofia Sans Extra Condensed ExtraBold" pitchFamily="34" charset="-122"/>
                <a:cs typeface="Sofia Sans Extra Condensed ExtraBold" pitchFamily="34" charset="0"/>
              </a:rPr>
              <a:t>THANK YOU</a:t>
            </a:r>
            <a:endParaRPr lang="en-US" sz="7200" dirty="0"/>
          </a:p>
        </p:txBody>
      </p:sp>
      <p:sp>
        <p:nvSpPr>
          <p:cNvPr id="14" name="Text 12"/>
          <p:cNvSpPr/>
          <p:nvPr/>
        </p:nvSpPr>
        <p:spPr>
          <a:xfrm>
            <a:off x="8346172" y="1451610"/>
            <a:ext cx="3845523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66" kern="100" dirty="0">
                <a:solidFill>
                  <a:srgbClr val="2A3134"/>
                </a:solidFill>
                <a:latin typeface="IBM Plex Mono" pitchFamily="34" charset="0"/>
                <a:ea typeface="IBM Plex Mono" pitchFamily="34" charset="-122"/>
                <a:cs typeface="IBM Plex Mono" pitchFamily="34" charset="0"/>
              </a:rPr>
              <a:t>GITHUB · ADD PORTFOLIO LINK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46172" y="5600700"/>
            <a:ext cx="338833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2A3134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Findings are strongest when the data definitions are verified alongside the business signal.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189" y="3035399"/>
            <a:ext cx="6517517" cy="12700"/>
          </a:xfrm>
          <a:prstGeom prst="rect">
            <a:avLst/>
          </a:prstGeom>
          <a:solidFill>
            <a:srgbClr val="CFCEC5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57189" y="4231283"/>
            <a:ext cx="6517517" cy="12700"/>
          </a:xfrm>
          <a:prstGeom prst="rect">
            <a:avLst/>
          </a:prstGeom>
          <a:solidFill>
            <a:srgbClr val="CFCEC5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457189" y="5427166"/>
            <a:ext cx="6517517" cy="12700"/>
          </a:xfrm>
          <a:prstGeom prst="rect">
            <a:avLst/>
          </a:prstGeom>
          <a:solidFill>
            <a:srgbClr val="CFCEC5"/>
          </a:solidFill>
          <a:ln/>
        </p:spPr>
        <p:txBody>
          <a:bodyPr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2026-10-28T02:30:58Z</dcterms:created>
  <dcterms:modified xsi:type="dcterms:W3CDTF">2026-10-28T02:30:58Z</dcterms:modified>
</cp:coreProperties>
</file>